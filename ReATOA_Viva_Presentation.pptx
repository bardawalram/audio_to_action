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0" r:id="rId1"/>
  </p:sldMasterIdLst>
  <p:notesMasterIdLst>
    <p:notesMasterId r:id="rId2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6AE1C69-F368-4CC2-AA67-394099D443E5}">
          <p14:sldIdLst>
            <p14:sldId id="274"/>
            <p14:sldId id="273"/>
            <p14:sldId id="258"/>
            <p14:sldId id="259"/>
            <p14:sldId id="277"/>
            <p14:sldId id="261"/>
            <p14:sldId id="262"/>
            <p14:sldId id="263"/>
            <p14:sldId id="264"/>
            <p14:sldId id="276"/>
            <p14:sldId id="278"/>
            <p14:sldId id="279"/>
            <p14:sldId id="281"/>
            <p14:sldId id="280"/>
            <p14:sldId id="266"/>
            <p14:sldId id="265"/>
            <p14:sldId id="282"/>
            <p14:sldId id="269"/>
            <p14:sldId id="270"/>
            <p14:sldId id="271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65F62-E6DC-419C-8491-8E999335D494}" v="98" dt="2025-11-25T19:11:33.1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89817-6A41-490D-BC80-6C87237F709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BD006-712E-45FB-AE43-96D93E978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23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AC65-0AF3-8557-2153-0149D7979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82292-8D9F-0CC8-D0DD-D170E09FB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C7C11-B867-5A3F-0807-65248148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16D9B-6146-1444-A949-3131E9BE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A0E7E-C3C4-10C7-D233-827E2567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54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5514-D43B-6DDE-712A-FBD0766F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090E5-5C11-8029-92FB-79981635E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5C661-393D-8AFB-B8EA-95422141C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06E18-2B18-49F6-8D02-6239E752C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C1BFC-6402-994F-A6E6-09D426B9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18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3985D-BD9A-5B86-5183-2D45CA8B0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70DB4-F234-F89E-E773-94CF5BBA1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6841B-F737-378B-1E74-AECA932C4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348F2-FCD4-E3C5-1073-EEA395ED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7A69-E54D-651A-DF24-3ACA0ECE7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23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4880-750F-478A-1405-C6C0AFCB9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77B33-AD6F-1704-74F8-1D9364797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50A78-3577-7D0D-454A-B1E541A64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EFE2C-94BB-DA04-E062-02FD9A23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A6AF3-DC3B-3355-4198-446A0AFC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9521A-A69D-0ACE-787A-6D49A771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49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7FA9A-7292-8050-6165-FAD2BEC8C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9D4A2-3098-A4A6-9417-556C2E82A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28948-6CB8-9450-8D8B-A773F7EC1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953A7-ABB8-7C5A-3B4F-4F6369413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61EA0-2EAF-37EB-569A-1FB586E95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7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B7AB0-DB16-9FF5-ADC6-F7A266C15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FA468A-0B93-6AD5-C404-6D6AE7F6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57A36-E1B9-0846-5F3E-F1CF463A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3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452D-E28E-5471-3E75-4C5D08E7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AE2A8E-D298-EA17-1F25-45341203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7779B-8DEE-372F-E389-90FEFF6F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46E25-F94D-F22F-3995-BB815BB0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59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4F69F5-C31F-0E08-BCB6-2071A4805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3081F8-840A-A6CA-55DC-D7CA2DCE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FF2FF-6654-DCAE-BE54-0D32B79B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2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E005A-F414-1937-EB2E-5EFB45C68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23959-920C-7094-0BEB-19D13957A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1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81162-0E64-738F-6263-292F980AB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6FE10-3354-774F-B089-A5BFED5A2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E4694-7596-563B-08E5-E69C6D97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99F14-C7F8-C98C-B251-54F88518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4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24ED-7356-155F-FA24-C84DC9A6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E9DC6-82E0-4FE1-837B-272DC4AE6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1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99F9B-FC11-ADC5-5B1A-6039A7D51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7BE55-526B-E475-6C6F-153BA46A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8735D-5CCC-911E-8C62-B0C1BA9CA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EABB9-BE86-6630-8F11-FE268364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842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31BC-DEDF-21DA-2864-83B1B124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75302-1885-95EF-04AE-FFFB6043D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3D54F-6783-112B-3938-262C15BDD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9B23D-E6E5-E4E4-BC08-6DCB0397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55F21-EB3E-B0F5-53F8-C4A57EFE0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55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844943-3895-5F67-D0E5-9E7904E03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6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90279-B0D8-41C1-1F04-D330C9B07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6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440A-09EC-3290-36FB-3FECD9A2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03252-8567-D886-0A31-F7134E99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AD9CD-8CC0-35A2-AC35-8BBA7CDF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341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30000"/>
                <a:lumOff val="70000"/>
              </a:schemeClr>
            </a:gs>
            <a:gs pos="100000">
              <a:schemeClr val="bg2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A89FFB-80E9-757D-10E2-AD8CE62E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4C124-6CA7-4D40-E54C-7A3947837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E5590-9B5C-695A-35A1-5E34F3480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4DE88-1E18-6D0B-2F56-580C9E5ED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D20EF-4BB1-70BB-12A6-ACE09DCBC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78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546A"/>
                </a:solidFill>
                <a:latin typeface="Calibri Light"/>
              </a:defRPr>
            </a:pPr>
            <a:r>
              <a:t>Department of Electronics and Communication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4546A"/>
                </a:solidFill>
                <a:latin typeface="Calibri Light"/>
              </a:defRPr>
            </a:pPr>
            <a:r>
              <a:t>Topic : Audio-to-Action: Voice-Driven School ERP System (ReATOA)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4546A"/>
                </a:solidFill>
                <a:latin typeface="Calibri"/>
              </a:defRPr>
            </a:pPr>
            <a:r>
              <a:t>Presented by:</a:t>
            </a:r>
          </a:p>
          <a:p>
            <a:pPr>
              <a:spcBef>
                <a:spcPts val="800"/>
              </a:spcBef>
              <a:defRPr sz="1600">
                <a:solidFill>
                  <a:srgbClr val="44546A"/>
                </a:solidFill>
                <a:latin typeface="Calibri"/>
              </a:defRPr>
            </a:pPr>
            <a:r>
              <a:t>B. Parshuram : 2204206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4546A"/>
                </a:solidFill>
                <a:latin typeface="Calibri"/>
              </a:defRPr>
            </a:pPr>
            <a:r>
              <a:t>Under the Supervision Of</a:t>
            </a:r>
          </a:p>
          <a:p>
            <a:pPr>
              <a:spcBef>
                <a:spcPts val="400"/>
              </a:spcBef>
              <a:defRPr sz="1400">
                <a:solidFill>
                  <a:srgbClr val="44546A"/>
                </a:solidFill>
                <a:latin typeface="Calibri"/>
              </a:defRPr>
            </a:pPr>
            <a:r>
              <a:t>    Dr. Girdhar Gopal</a:t>
            </a:r>
          </a:p>
          <a:p>
            <a:pPr>
              <a:spcBef>
                <a:spcPts val="400"/>
              </a:spcBef>
              <a:defRPr sz="1400">
                <a:solidFill>
                  <a:srgbClr val="44546A"/>
                </a:solidFill>
                <a:latin typeface="Calibri"/>
              </a:defRPr>
            </a:pPr>
            <a:r>
              <a:t>    (Project Supervisor)</a:t>
            </a:r>
          </a:p>
          <a:p>
            <a:pPr>
              <a:spcBef>
                <a:spcPts val="400"/>
              </a:spcBef>
              <a:defRPr sz="1400">
                <a:solidFill>
                  <a:srgbClr val="44546A"/>
                </a:solidFill>
                <a:latin typeface="Calibri"/>
              </a:defRPr>
            </a:pPr>
            <a:r>
              <a:t>    Asst. Professor ECE dept.</a:t>
            </a:r>
          </a:p>
          <a:p>
            <a:pPr>
              <a:spcBef>
                <a:spcPts val="400"/>
              </a:spcBef>
              <a:defRPr sz="1400">
                <a:solidFill>
                  <a:srgbClr val="44546A"/>
                </a:solidFill>
                <a:latin typeface="Calibri"/>
              </a:defRPr>
            </a:pPr>
            <a:r>
              <a:t>    NIT-PATNA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95959"/>
                </a:solidFill>
                <a:latin typeface="Calibri"/>
              </a:defRPr>
            </a:pPr>
            <a:r>
              <a:t>Industry Partner: K12 Techno Services Pvt. Ltd. (SDE)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About K12 — Industry Partner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Introduction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Objectives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Tech Stack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Voice Processing Pipeline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App Features — Marks &amp; Attendance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Backend &amp; Data Model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Security &amp; Edge Cases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Advantages and Limitations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Future Scope</a:t>
            </a:r>
          </a:p>
          <a:p>
            <a:pPr>
              <a:spcAft>
                <a:spcPts val="600"/>
              </a:spcAft>
              <a:defRPr sz="1600" b="1">
                <a:solidFill>
                  <a:srgbClr val="44546A"/>
                </a:solidFill>
                <a:latin typeface="Calibri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About K12 — Industry Partner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731520"/>
            <a:ext cx="8412480" cy="73152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546A"/>
                </a:solidFill>
                <a:latin typeface="Calibri"/>
              </a:defRPr>
            </a:pPr>
            <a:r>
              <a:t>K12 Techno Services is a leading EdTech company focused on delivering high-quality, technology-driven K-12 education solutions across India, partnering with schools to enhance learning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91640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72C4"/>
                </a:solidFill>
                <a:latin typeface="Calibri"/>
              </a:defRPr>
            </a:pPr>
            <a:r>
              <a:t>Founded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95959"/>
                </a:solidFill>
                <a:latin typeface="Calibri"/>
              </a:defRPr>
            </a:pPr>
            <a:r>
              <a:t>2009</a:t>
            </a:r>
            <a:br/>
            <a:r>
              <a:t>Bengaluru,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691640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7830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72C4"/>
                </a:solidFill>
                <a:latin typeface="Calibri"/>
              </a:defRPr>
            </a:pPr>
            <a:r>
              <a:t>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95959"/>
                </a:solidFill>
                <a:latin typeface="Calibri"/>
              </a:defRPr>
            </a:pPr>
            <a:r>
              <a:t>500+ partner schools</a:t>
            </a:r>
            <a:br/>
            <a:r>
              <a:t>across India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72C4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95959"/>
                </a:solidFill>
                <a:latin typeface="Calibri"/>
              </a:defRPr>
            </a:pPr>
            <a:r>
              <a:t>K-12 curriculum</a:t>
            </a:r>
            <a:br/>
            <a:r>
              <a:t>&amp; EdTech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72C4"/>
                </a:solidFill>
                <a:latin typeface="Calibri"/>
              </a:defRPr>
            </a:pPr>
            <a:r>
              <a:t>RELEVANCE TO REATOA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200400"/>
            <a:ext cx="4206240" cy="4572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644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K12's school management needs directly informed the voice-driven ERP design of ReATOA.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200400"/>
            <a:ext cx="4206240" cy="4572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2644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Target users (teachers &amp; staff) align with K12's partner school workforce across India.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49039"/>
            <a:ext cx="4206240" cy="4572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1304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K12's technology-first classroom approach validated the voice interface as a viable input method.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749039"/>
            <a:ext cx="4206240" cy="4572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81304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The Django REST backend is architected to support future integration with K12's school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4546A"/>
                </a:solidFill>
                <a:latin typeface="Calibri"/>
              </a:defRPr>
            </a:pPr>
            <a:r>
              <a:t>ReATOA (Audio-to-Action)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ReATOA is a voice-driven school ERP system that enables teachers to manage marks &amp; attendance through natural spoken commands. It converts speech to text, extracts intent, confirms with the user, and executes database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546A"/>
                </a:solidFill>
                <a:latin typeface="Calibri"/>
              </a:defRPr>
            </a:pPr>
            <a:r>
              <a:t>This project focuses 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546A"/>
                </a:solidFill>
                <a:latin typeface="Calibri"/>
              </a:defRPr>
            </a:pPr>
            <a:r>
              <a:t>1. Voice-first school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95959"/>
                </a:solidFill>
                <a:latin typeface="Calibri"/>
              </a:defRPr>
            </a:pPr>
            <a:r>
              <a:t>    Hands-free marks entry, attendance management via spoken commands.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546A"/>
                </a:solidFill>
                <a:latin typeface="Calibri"/>
              </a:defRPr>
            </a:pPr>
            <a:r>
              <a:t>2. Custom NLP engine (no ML required)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95959"/>
                </a:solidFill>
                <a:latin typeface="Calibri"/>
              </a:defRPr>
            </a:pPr>
            <a:r>
              <a:t>    4,000+ lines of regex-based intent &amp; entity extraction from natural speech.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546A"/>
                </a:solidFill>
                <a:latin typeface="Calibri"/>
              </a:defRPr>
            </a:pPr>
            <a:r>
              <a:t>3. Two-phase commit for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95959"/>
                </a:solidFill>
                <a:latin typeface="Calibri"/>
              </a:defRPr>
            </a:pPr>
            <a:r>
              <a:t>    Preview parsed data, confirm before writing to database. Complete audit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Problem Statement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82296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Teachers spend 30-40% of admin time on repetitive manual data entry for marks &amp; attendance records.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Existing school ERP systems have steep learning curves with complex, multi-step navigation and forms.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No hands-free solution exists for teachers managing students in a classroom setting.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Manual entry leads to frequent errors in student records, with no audit trail to track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77724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229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546A"/>
                </a:solidFill>
                <a:latin typeface="Calibri"/>
              </a:defRPr>
            </a:pPr>
            <a:r>
              <a:t>Build a voice-driven ERP system using React + Django + OpenAI Whisper for school administration.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17319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546A"/>
                </a:solidFill>
                <a:latin typeface="Calibri"/>
              </a:defRPr>
            </a:pPr>
            <a:r>
              <a:t>Design a 6-stage voice pipeline: Capture → Transcribe → Upload → Normalize → Extract → Confirm.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546A"/>
                </a:solidFill>
                <a:latin typeface="Calibri"/>
              </a:defRPr>
            </a:pPr>
            <a:r>
              <a:t>Implement custom regex-based NLP (4,000+ LOC) for intent &amp; entity extraction from natural speech.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97479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19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546A"/>
                </a:solidFill>
                <a:latin typeface="Calibri"/>
              </a:defRPr>
            </a:pPr>
            <a:r>
              <a:t>Develop marks management: subject-wise entry, question-wise scoring &amp; automatic grade calculation.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546A"/>
                </a:solidFill>
                <a:latin typeface="Calibri"/>
              </a:defRPr>
            </a:pPr>
            <a:r>
              <a:t>Enable batch voice operations: "Questions 1,2,3 marks as 4,5,3" in a single command.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977639"/>
            <a:ext cx="411480" cy="4114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5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546A"/>
                </a:solidFill>
                <a:latin typeface="Calibri"/>
              </a:defRPr>
            </a:pPr>
            <a:r>
              <a:t>Build attendance module with bulk marking &amp; exception handling via voice commands.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795528"/>
            <a:ext cx="2660904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Calibri"/>
              </a:defRPr>
            </a:pPr>
            <a:r>
              <a:t>React 18 + Vite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Redux Toolkit · Tailwind CSS</a:t>
            </a:r>
            <a:br/>
            <a:r>
              <a:t>Axios · React Router 6</a:t>
            </a:r>
            <a:br/>
            <a:r>
              <a:t>Heroicons · Responsive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79" y="77724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72967" y="795528"/>
            <a:ext cx="2660904" cy="365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19" y="822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19" y="12344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Calibri"/>
              </a:defRPr>
            </a:pPr>
            <a:r>
              <a:t>Django 5.0 + DRF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19" y="16002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REST APIs · JWT Auth</a:t>
            </a:r>
            <a:br/>
            <a:r>
              <a:t>PostgreSQL 15</a:t>
            </a:r>
            <a:br/>
            <a:r>
              <a:t>OpenAI Whisper (STT)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77724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795528"/>
            <a:ext cx="2660904" cy="3657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822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VOICE /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2344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Calibri"/>
              </a:defRPr>
            </a:pPr>
            <a:r>
              <a:t>Custom NLP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6002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Web Speech API (Live)</a:t>
            </a:r>
            <a:br/>
            <a:r>
              <a:t>MediaRecorder API</a:t>
            </a:r>
            <a:br/>
            <a:r>
              <a:t>4,000+ LOC Regex Intent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74320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" y="2761488"/>
            <a:ext cx="2660904" cy="3657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788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STATE MGMT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Calibri"/>
              </a:defRPr>
            </a:pPr>
            <a:r>
              <a:t>Redux Toolkit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66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Auth Slice · Voice Slice</a:t>
            </a:r>
            <a:br/>
            <a:r>
              <a:t>UI Slice · Marks State</a:t>
            </a:r>
            <a:br/>
            <a:r>
              <a:t>LocalStorage persistence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79" y="274320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72967" y="2761488"/>
            <a:ext cx="2660904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19" y="2788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19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Calibri"/>
              </a:defRPr>
            </a:pPr>
            <a:r>
              <a:t>Dual STT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19" y="3566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Web Speech API (real-time)</a:t>
            </a:r>
            <a:br/>
            <a:r>
              <a:t>Whisper (offline fallback)</a:t>
            </a:r>
            <a:br/>
            <a:r>
              <a:t>MediaRecorder (capture)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274320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53328" y="2761488"/>
            <a:ext cx="2660904" cy="36576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788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Calibri"/>
              </a:defRPr>
            </a:pPr>
            <a:r>
              <a:t>PostgreSQL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566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10+ models · Foreign Keys</a:t>
            </a:r>
            <a:br/>
            <a:r>
              <a:t>Audit trail · Seed scripts</a:t>
            </a:r>
            <a:br/>
            <a:r>
              <a:t>Docker Compose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77724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" y="795528"/>
            <a:ext cx="1929384" cy="3200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14300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72C4"/>
                </a:solidFill>
                <a:latin typeface="Calibri"/>
              </a:defRPr>
            </a:pPr>
            <a:r>
              <a:t>(Frontend)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4630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  <a:latin typeface="Calibri"/>
              </a:defRPr>
            </a:pPr>
            <a:r>
              <a:t>Screens · Components</a:t>
            </a:r>
            <a:br/>
            <a:r>
              <a:t>Voice · Redux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188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546A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77724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41448" y="795528"/>
            <a:ext cx="1929384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8229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14300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D7D31"/>
                </a:solidFill>
                <a:latin typeface="Calibri"/>
              </a:defRPr>
            </a:pPr>
            <a:r>
              <a:t>(Axios)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4630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  <a:latin typeface="Calibri"/>
              </a:defRPr>
            </a:pPr>
            <a:r>
              <a:t>HTTP Requests</a:t>
            </a:r>
            <a:br/>
            <a:r>
              <a:t>JWT Interceptor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188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546A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77724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7448" y="795528"/>
            <a:ext cx="1929384" cy="3200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8229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Django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14300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AD47"/>
                </a:solidFill>
                <a:latin typeface="Calibri"/>
              </a:defRPr>
            </a:pPr>
            <a:r>
              <a:t>(Backend)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4630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  <a:latin typeface="Calibri"/>
              </a:defRPr>
            </a:pPr>
            <a:r>
              <a:t>Views · Serializers</a:t>
            </a:r>
            <a:br/>
            <a:r>
              <a:t>NLP · Whisper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188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546A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77724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13448" y="795528"/>
            <a:ext cx="1929384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8229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114300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9BD5"/>
                </a:solidFill>
                <a:latin typeface="Calibri"/>
              </a:defRPr>
            </a:pPr>
            <a:r>
              <a:t>(PostgreSQL)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4630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  <a:latin typeface="Calibri"/>
              </a:defRPr>
            </a:pPr>
            <a:r>
              <a:t>10+ Models</a:t>
            </a:r>
            <a:br/>
            <a:r>
              <a:t>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377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4546A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" y="2788920"/>
            <a:ext cx="1325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2862072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" y="3291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Calibri"/>
              </a:defRPr>
            </a:pPr>
            <a:r>
              <a:t>User speaks</a:t>
            </a:r>
            <a:br/>
            <a:r>
              <a:t>into mic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1089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00200" y="2788920"/>
            <a:ext cx="1325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57400" y="2862072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291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Calibri"/>
              </a:defRPr>
            </a:pPr>
            <a:r>
              <a:t>Web Speech API</a:t>
            </a:r>
            <a:br/>
            <a:r>
              <a:t>transcribes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1089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0" y="2788920"/>
            <a:ext cx="1325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66160" y="2862072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3291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Calibri"/>
              </a:defRPr>
            </a:pPr>
            <a:r>
              <a:t>Audio uploaded</a:t>
            </a:r>
            <a:br/>
            <a:r>
              <a:t>to 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1089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7719" y="2788920"/>
            <a:ext cx="1325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74919" y="2862072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39" y="3291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Calibri"/>
              </a:defRPr>
            </a:pPr>
            <a:r>
              <a:t>Whisper STT +</a:t>
            </a:r>
            <a:br/>
            <a:r>
              <a:t>normalization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599" y="31089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79" y="2788920"/>
            <a:ext cx="1325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83679" y="2862072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199" y="3291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Calibri"/>
              </a:defRPr>
            </a:pPr>
            <a:r>
              <a:t>Intent &amp; entity</a:t>
            </a:r>
            <a:br/>
            <a:r>
              <a:t>extraction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59" y="31089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2788920"/>
            <a:ext cx="1325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92440" y="2862072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329184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Calibri"/>
              </a:defRPr>
            </a:pPr>
            <a:r>
              <a:t>Confirm dialog</a:t>
            </a:r>
            <a:br/>
            <a:r>
              <a:t>→ execute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Voice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8595360" cy="109728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72C4"/>
                </a:solidFill>
                <a:latin typeface="Calibri"/>
              </a:defRPr>
            </a:pPr>
            <a:r>
              <a:t>EXAMPLE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546A"/>
                </a:solidFill>
                <a:latin typeface="Calibri"/>
              </a:defRPr>
            </a:pPr>
            <a:r>
              <a:t>"Update marks for roll 1, maths 95, hindi 88"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Calibri"/>
              </a:defRPr>
            </a:pPr>
            <a:r>
              <a:t>→ Intent: UPDATE_MARKS  |  Entities: {roll: 1, marks: [{maths: 95}, {hindi: 88}]}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72C4"/>
                </a:solidFill>
                <a:latin typeface="Calibri"/>
              </a:defRPr>
            </a:pPr>
            <a:r>
              <a:t>Intelligent NLP Features (4,000+ lines, no ML models)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" y="2377440"/>
            <a:ext cx="169164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" y="2395728"/>
            <a:ext cx="1655064" cy="3200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Homophone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28346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  <a:latin typeface="Calibri"/>
              </a:defRPr>
            </a:pPr>
            <a:r>
              <a:t>"won"→"1"</a:t>
            </a:r>
            <a:br/>
            <a:r>
              <a:t>"rule"→"roll"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83664" y="2377440"/>
            <a:ext cx="169164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01952" y="2395728"/>
            <a:ext cx="1655064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9384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Subject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9384" y="28346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  <a:latin typeface="Calibri"/>
              </a:defRPr>
            </a:pPr>
            <a:r>
              <a:t>"mass"→"maths"</a:t>
            </a:r>
            <a:br/>
            <a:r>
              <a:t>"signs"→"science"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75887" y="2377440"/>
            <a:ext cx="169164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4175" y="2395728"/>
            <a:ext cx="1655064" cy="3200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7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Number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7" y="28346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  <a:latin typeface="Calibri"/>
              </a:defRPr>
            </a:pPr>
            <a:r>
              <a:t>"12345678910" →</a:t>
            </a:r>
            <a:br/>
            <a:r>
              <a:t>"1,2,3,...,10"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68112" y="2377440"/>
            <a:ext cx="169164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395728"/>
            <a:ext cx="1655064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3832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Range 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28346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  <a:latin typeface="Calibri"/>
              </a:defRPr>
            </a:pPr>
            <a:r>
              <a:t>"1 to 10" →</a:t>
            </a:r>
            <a:br/>
            <a:r>
              <a:t>"1,2,3,...,10"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377440"/>
            <a:ext cx="169164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8624" y="2395728"/>
            <a:ext cx="1655064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6056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50+ Intents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6056" y="283464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  <a:latin typeface="Calibri"/>
              </a:defRPr>
            </a:pPr>
            <a:r>
              <a:t>UPDATE_MARKS</a:t>
            </a:r>
            <a:br/>
            <a:r>
              <a:t>MARK_ATTENDANCE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App Features — Marks &amp; Attendance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42062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72C4"/>
                </a:solidFill>
                <a:latin typeface="Calibri"/>
              </a:defRPr>
            </a:pPr>
            <a:r>
              <a:t>Subject Marks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Calibri"/>
              </a:defRPr>
            </a:pPr>
            <a:r>
              <a:t>Voice: "Enter marks for roll 5, maths 92, hindi 88"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59" y="777240"/>
            <a:ext cx="42062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39" y="868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Calibri"/>
              </a:defRPr>
            </a:pPr>
            <a:r>
              <a:t>Question-wise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39" y="1234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Calibri"/>
              </a:defRPr>
            </a:pPr>
            <a:r>
              <a:t>Voice: "Questions 1,2,3 marks as 4,5,3"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057400"/>
            <a:ext cx="42062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Calibri"/>
              </a:defRPr>
            </a:pPr>
            <a:r>
              <a:t>Attendance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Calibri"/>
              </a:defRPr>
            </a:pPr>
            <a:r>
              <a:t>Voice: "Mark all present except roll 5, 12"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2057400"/>
            <a:ext cx="42062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39" y="2148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D5"/>
                </a:solidFill>
                <a:latin typeface="Calibri"/>
              </a:defRPr>
            </a:pPr>
            <a:r>
              <a:t>Voice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39" y="25146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Calibri"/>
              </a:defRPr>
            </a:pPr>
            <a:r>
              <a:t>Voice: "Open marks sheet class 5 section A"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37560"/>
            <a:ext cx="42062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000"/>
                </a:solidFill>
                <a:latin typeface="Calibri"/>
              </a:defRPr>
            </a:pPr>
            <a:r>
              <a:t>Auto Grade 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Calibri"/>
              </a:defRPr>
            </a:pPr>
            <a:r>
              <a:t>A+/A/B+/B/C/D/F calculated automatically from marks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3337560"/>
            <a:ext cx="42062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39" y="3429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5A5A5"/>
                </a:solidFill>
                <a:latin typeface="Calibri"/>
              </a:defRPr>
            </a:pPr>
            <a:r>
              <a:t>Student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39" y="37947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  <a:latin typeface="Calibri"/>
              </a:defRPr>
            </a:pPr>
            <a:r>
              <a:t>View progress, marks summary &amp; attendance percentage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Backend &amp; Data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411480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72C4"/>
                </a:solidFill>
                <a:latin typeface="Calibri"/>
              </a:defRPr>
            </a:pPr>
            <a:r>
              <a:t>CustomUser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804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Teacher / Admin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411480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99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D7D31"/>
                </a:solidFill>
                <a:latin typeface="Calibri"/>
              </a:defRPr>
            </a:pPr>
            <a:r>
              <a:t>ClassSection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3990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Class + Section +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920240"/>
            <a:ext cx="411480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AD47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93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Roll, Name, DOB, 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411480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587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9BD5"/>
                </a:solidFill>
                <a:latin typeface="Calibri"/>
              </a:defRPr>
            </a:pPr>
            <a:r>
              <a:t>Marks / QuestionMarks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587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Subject, Exam, Score, 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108960"/>
            <a:ext cx="411480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182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000"/>
                </a:solidFill>
                <a:latin typeface="Calibri"/>
              </a:defRPr>
            </a:pPr>
            <a: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182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Session + Record (P/A/L)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703320"/>
            <a:ext cx="411480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764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5A5A5"/>
                </a:solidFill>
                <a:latin typeface="Calibri"/>
              </a:defRPr>
            </a:pPr>
            <a:r>
              <a:t>VoiceCommand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776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Calibri"/>
              </a:defRPr>
            </a:pPr>
            <a:r>
              <a:t>Audio, Intent, Entities,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685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72C4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1005840"/>
            <a:ext cx="4114800" cy="338328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0972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POST  /api/v1/auth/login/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4447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POST  /api/v1/auth/token/refresh/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79222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POST  /api/v1/voice/upload/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13969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POST  /api/v1/voice/commands/{id}/confirm/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487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POST  /api/v1/voice/commands/{id}/reject/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83463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GET   /api/v1/marks/{class}/{section}/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1821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POST  /api/v1/marks/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52958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GET   /api/v1/attendance/{class}/{section}/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87705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Calibri"/>
              </a:defRPr>
            </a:pPr>
            <a:r>
              <a:t>POST  /api/v1/attendance/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Security &amp; Edge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472C4"/>
                </a:solidFill>
                <a:latin typeface="Calibri"/>
              </a:defRPr>
            </a:pPr>
            <a:r>
              <a:t>Security Measures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20624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JWT auth with auto token refresh (15min/7day)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Role-Based Access Control per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Intent filtering by user role on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Two-phase commit: preview before DB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CORS headers · Django password hashing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731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7D31"/>
                </a:solidFill>
                <a:latin typeface="Calibri"/>
              </a:defRPr>
            </a:pPr>
            <a:r>
              <a:t>Edge Cases Handled (20+)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097280"/>
            <a:ext cx="420624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Merged number splitting (fast speech)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916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Indian English accent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Incomplete command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14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Student/class not found → friendly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Batch updates with mismatched lengths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Decimal marks preservation (4.5)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490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• Duplicate attendance prevention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Advantages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0AD47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20624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✅  Hands-free operation reduces admin workload by 30-40%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✅  Custom NLP works offline — no API costs or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✅  Two-phase commit prevents accidental data corruption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✅  Handles Indian English accents &amp; speech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✅  Batch operations: multiple marks in one 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731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D7D31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097280"/>
            <a:ext cx="420624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⚠️  Requires active backend connection (not fully offline)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830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⚠️  Regex NLP may miss very unusual phrasing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86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⚠️  Whisper model needs ~150MB download on first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88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⚠️  Browser mic permission required for voice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91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⚠️  Currently English-only voice commands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• Fee Management module — voice-driven fee collection, defaulter tracking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• LLM-based intent extraction — replace regex with GPT/Claude for natural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• Multi-language support — Hindi, Marathi &amp; regional language voice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• Mobile app — React Native with offline voice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Calibri"/>
              </a:defRPr>
            </a:pPr>
            <a:r>
              <a:t>• Analytics dashboard — performance trends, charts &amp; AI-powered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546A"/>
                </a:solidFill>
                <a:latin typeface="Calibri Light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 OpenAI Whisper, Robust Speech Recognition via Large-Scale Weak Supervision,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 Django Documentation, Django Software Foundation, djangoproject.com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 React 18 Documentation, Meta Platforms, react.dev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 Web Speech API Specification, W3C Community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 Django REST Framework, Tom Christie, django-rest-framework.org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 Redux Toolkit Documentation, Redux Team, redux-toolkit.js.org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 PostgreSQL 15 Documentation, PostgreSQL Global Development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 Tailwind CSS Documentation, Tailwind Labs, tailwindcss.com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t> K12 Techno Services, k12technoservices.com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4546A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95959"/>
                </a:solidFill>
                <a:latin typeface="Calibri"/>
              </a:defRPr>
            </a:pPr>
            <a:r>
              <a:t>B. Parshuram  |  Dr. Girdhar Gopal  |  ECE Dept.  |  NIT Patna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503" row="0">
    <wetp:webextensionref xmlns:r="http://schemas.openxmlformats.org/officeDocument/2006/relationships" r:id="rId1"/>
  </wetp:taskpane>
  <wetp:taskpane dockstate="right" visibility="0" width="503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339739-CD51-4B82-8AE5-20A50F6EF60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0BFE5AC-ED4B-4D3E-A9EE-AB6882D5C27D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184</TotalTime>
  <Words>1120</Words>
  <Application>Microsoft Office PowerPoint</Application>
  <PresentationFormat>On-screen Show (16:9)</PresentationFormat>
  <Paragraphs>187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Office Theme</vt:lpstr>
      <vt:lpstr>             Department of Electronics and Communication Engineering</vt:lpstr>
      <vt:lpstr> Content</vt:lpstr>
      <vt:lpstr>INTRODUCTION</vt:lpstr>
      <vt:lpstr> What is a Perovskite Solar Cell</vt:lpstr>
      <vt:lpstr>Why We Selected Perovskite Solar Cells</vt:lpstr>
      <vt:lpstr>Three Generation of Solar Cells</vt:lpstr>
      <vt:lpstr>Basic structure of perovskite solar cell</vt:lpstr>
      <vt:lpstr>Layers Of Perovskite Solar Cells</vt:lpstr>
      <vt:lpstr>Layers Of Perovskite Solar Cells</vt:lpstr>
      <vt:lpstr>SCAPS-1D Simulation Procedure </vt:lpstr>
      <vt:lpstr> Device Structure Used for Simulation </vt:lpstr>
      <vt:lpstr>J–V Curve and QE Curve (Using rGO as HTL) </vt:lpstr>
      <vt:lpstr>Comparison of Different HTL Materials</vt:lpstr>
      <vt:lpstr> Performance Comparison Table </vt:lpstr>
      <vt:lpstr>Environmental Impact And Sustainability</vt:lpstr>
      <vt:lpstr>Application of Perovskite Solar Cells</vt:lpstr>
      <vt:lpstr>Advantages and Disadvantages of Perovskite Solar  Cells </vt:lpstr>
      <vt:lpstr>Future scope of Perovskite Solar Cells</vt:lpstr>
      <vt:lpstr>Conclusion : A New Era of Renewable Energy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Perovskite</dc:title>
  <dc:creator>bardawal Parshuram</dc:creator>
  <cp:lastModifiedBy>Lokesh Potnuru</cp:lastModifiedBy>
  <cp:revision>4</cp:revision>
  <dcterms:created xsi:type="dcterms:W3CDTF">2025-11-21T20:12:32Z</dcterms:created>
  <dcterms:modified xsi:type="dcterms:W3CDTF">2025-12-10T14:08:09Z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2025-11-21T00:00:00Z</vt:filetime>
  </property>
</Properties>
</file>